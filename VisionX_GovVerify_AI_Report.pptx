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53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2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6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9.png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A44281-97F2-53CC-7AEB-F964EBB8E128}"/>
              </a:ext>
            </a:extLst>
          </p:cNvPr>
          <p:cNvSpPr txBox="1"/>
          <p:nvPr/>
        </p:nvSpPr>
        <p:spPr>
          <a:xfrm>
            <a:off x="4804609" y="305181"/>
            <a:ext cx="25827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GovVerify</a:t>
            </a:r>
            <a:r>
              <a:rPr lang="en-US" sz="32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 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C1CDF-4D93-E1B3-2E9A-5B2D2DF90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577" y="1642672"/>
            <a:ext cx="4429886" cy="40282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A431B3-79DE-D5F9-FD7E-0351F1C3FFEC}"/>
              </a:ext>
            </a:extLst>
          </p:cNvPr>
          <p:cNvSpPr txBox="1"/>
          <p:nvPr/>
        </p:nvSpPr>
        <p:spPr>
          <a:xfrm>
            <a:off x="3934326" y="889956"/>
            <a:ext cx="4323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Unsupported Government Claim Detector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019A4-DC31-6DEE-B7B0-3F6E53022447}"/>
              </a:ext>
            </a:extLst>
          </p:cNvPr>
          <p:cNvSpPr txBox="1"/>
          <p:nvPr/>
        </p:nvSpPr>
        <p:spPr>
          <a:xfrm>
            <a:off x="681788" y="1851448"/>
            <a:ext cx="6874044" cy="444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• </a:t>
            </a:r>
            <a:r>
              <a:rPr lang="en-IN" b="1" dirty="0"/>
              <a:t>PS ID : </a:t>
            </a:r>
            <a:r>
              <a:rPr lang="en-IN" dirty="0"/>
              <a:t>GOV-16   </a:t>
            </a:r>
          </a:p>
          <a:p>
            <a:pPr>
              <a:lnSpc>
                <a:spcPct val="200000"/>
              </a:lnSpc>
            </a:pPr>
            <a:r>
              <a:rPr lang="en-IN" dirty="0"/>
              <a:t>• </a:t>
            </a:r>
            <a:r>
              <a:rPr lang="en-IN" b="1" dirty="0"/>
              <a:t>PS Domain : </a:t>
            </a:r>
            <a:r>
              <a:rPr lang="en-IN" dirty="0"/>
              <a:t>Government &amp; Public Services</a:t>
            </a:r>
          </a:p>
          <a:p>
            <a:pPr>
              <a:lnSpc>
                <a:spcPct val="200000"/>
              </a:lnSpc>
            </a:pPr>
            <a:r>
              <a:rPr lang="en-IN" dirty="0"/>
              <a:t>• </a:t>
            </a:r>
            <a:r>
              <a:rPr lang="en-IN" b="1" dirty="0"/>
              <a:t>Problem Statement Title : </a:t>
            </a:r>
            <a:r>
              <a:rPr lang="en-IN" dirty="0"/>
              <a:t>Unsupported Government Claim Detector</a:t>
            </a:r>
          </a:p>
          <a:p>
            <a:pPr>
              <a:lnSpc>
                <a:spcPct val="200000"/>
              </a:lnSpc>
            </a:pPr>
            <a:r>
              <a:rPr lang="en-IN" dirty="0"/>
              <a:t>• </a:t>
            </a:r>
            <a:r>
              <a:rPr lang="en-IN" b="1" dirty="0"/>
              <a:t>Team Name : </a:t>
            </a:r>
            <a:r>
              <a:rPr lang="en-IN" dirty="0" err="1"/>
              <a:t>VisionX</a:t>
            </a:r>
            <a:r>
              <a:rPr lang="en-IN" dirty="0"/>
              <a:t> </a:t>
            </a:r>
          </a:p>
          <a:p>
            <a:pPr>
              <a:lnSpc>
                <a:spcPct val="200000"/>
              </a:lnSpc>
            </a:pPr>
            <a:r>
              <a:rPr lang="en-IN" dirty="0"/>
              <a:t>• </a:t>
            </a:r>
            <a:r>
              <a:rPr lang="en-IN" b="1" dirty="0"/>
              <a:t>Team Members: </a:t>
            </a:r>
            <a:r>
              <a:rPr lang="en-IN" dirty="0"/>
              <a:t>1.Pavithra S(7376242AD244)</a:t>
            </a:r>
            <a:br>
              <a:rPr lang="en-IN" dirty="0"/>
            </a:br>
            <a:r>
              <a:rPr lang="en-IN" dirty="0"/>
              <a:t>                                 2.Manoranjith S(7376242AD214)</a:t>
            </a:r>
            <a:br>
              <a:rPr lang="en-IN" dirty="0"/>
            </a:br>
            <a:r>
              <a:rPr lang="en-IN" dirty="0"/>
              <a:t>                                 3.Sanjay S(7376242AD289)</a:t>
            </a:r>
          </a:p>
          <a:p>
            <a:pPr>
              <a:lnSpc>
                <a:spcPct val="200000"/>
              </a:lnSpc>
            </a:pPr>
            <a:r>
              <a:rPr lang="en-IN" dirty="0"/>
              <a:t>                                 4.Jayaseelan G(7376242AD188)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3A60FD-91D3-AF95-802C-A140FAB54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453" y="379823"/>
            <a:ext cx="537412" cy="4354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650550-F003-B96E-092A-48FA7A0FE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79" y="269169"/>
            <a:ext cx="1485179" cy="99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25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Government AI Answers Need Verification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472184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44168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can produce convincing but unsupported government information.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22199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93976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may trust AI-generated answers without checking official sources.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43784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information is distributed across lengthy PDFs, guidelines and official documents.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721608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93592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verifying every statement is time-consuming.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4471416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43400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systems primarily focus on answer generation rather than claim-level verification.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949440" y="14173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EAF2FD"/>
          </a:solidFill>
          <a:ln/>
        </p:spPr>
      </p:sp>
      <p:pic>
        <p:nvPicPr>
          <p:cNvPr id="14" name="Image 0" descr="assets/icons/s1_ai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600200"/>
            <a:ext cx="685800" cy="685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55280" y="14173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 Answer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52560" y="2487168"/>
            <a:ext cx="0" cy="4572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949440" y="2962656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EF3E2"/>
          </a:solidFill>
          <a:ln/>
        </p:spPr>
      </p:sp>
      <p:pic>
        <p:nvPicPr>
          <p:cNvPr id="18" name="Image 1" descr="assets/icons/s1_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3145536"/>
            <a:ext cx="685800" cy="6858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955280" y="2962656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it?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9052560" y="4032504"/>
            <a:ext cx="0" cy="45720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949440" y="4507992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0F2A5C"/>
          </a:solidFill>
          <a:ln/>
        </p:spPr>
      </p:sp>
      <p:pic>
        <p:nvPicPr>
          <p:cNvPr id="22" name="Image 2" descr="assets/icons/s1_gov_ev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4690872"/>
            <a:ext cx="685800" cy="6858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955280" y="4507992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Government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02920" y="5806440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EAF2FD"/>
          </a:solidFill>
          <a:ln/>
        </p:spPr>
      </p:sp>
      <p:sp>
        <p:nvSpPr>
          <p:cNvPr id="25" name="Text 20"/>
          <p:cNvSpPr/>
          <p:nvPr/>
        </p:nvSpPr>
        <p:spPr>
          <a:xfrm>
            <a:off x="777240" y="5806440"/>
            <a:ext cx="10634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we ensure that AI-generated government information is actually </a:t>
            </a:r>
            <a:r>
              <a:rPr lang="en-US" sz="1800" b="1" i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by official evidence</a:t>
            </a:r>
            <a:r>
              <a:rPr lang="en-US" sz="1800" i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GovVerify AI  |  GOV-16 · Unsupported Government Claim Detector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455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B5AC77D-C751-D45B-B9A6-DDBD6E37B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7" y="109978"/>
            <a:ext cx="545432" cy="4419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GovVerify AI — Verify Before You Trust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evidence-grounded AI verification layer that checks every important government claim against official government documents.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7532" y="1417320"/>
            <a:ext cx="1901952" cy="1051560"/>
          </a:xfrm>
          <a:prstGeom prst="roundRect">
            <a:avLst>
              <a:gd name="adj" fmla="val 869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5" name="Image 0" descr="assets/icons/s2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64" y="152704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2396" y="2020824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29484" y="194310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985516" y="1417320"/>
            <a:ext cx="1901952" cy="1051560"/>
          </a:xfrm>
          <a:prstGeom prst="roundRect">
            <a:avLst>
              <a:gd name="adj" fmla="val 869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9" name="Image 1" descr="assets/icons/s2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1527048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40380" y="2020824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 Answer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887468" y="194310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143500" y="1417320"/>
            <a:ext cx="1901952" cy="1051560"/>
          </a:xfrm>
          <a:prstGeom prst="roundRect">
            <a:avLst>
              <a:gd name="adj" fmla="val 869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13" name="Image 2" descr="assets/icons/s2_cla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2" y="1527048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98364" y="2020824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045452" y="194310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7301484" y="1417320"/>
            <a:ext cx="1901952" cy="1051560"/>
          </a:xfrm>
          <a:prstGeom prst="roundRect">
            <a:avLst>
              <a:gd name="adj" fmla="val 869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17" name="Image 3" descr="assets/icons/s2_do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716" y="1527048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56348" y="2020824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Gov. Documents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9203436" y="194310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9459468" y="1417320"/>
            <a:ext cx="1901952" cy="1051560"/>
          </a:xfrm>
          <a:prstGeom prst="roundRect">
            <a:avLst>
              <a:gd name="adj" fmla="val 869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21" name="Image 4" descr="assets/icons/s2_retriev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2700" y="1527048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14332" y="2020824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Evidence Retrieval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11343132" y="2468880"/>
            <a:ext cx="0" cy="50292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608076" y="32004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25" name="Image 5" descr="assets/icons/s2_repo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3352" y="3310128"/>
            <a:ext cx="475488" cy="4754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" y="3803904"/>
            <a:ext cx="24597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Report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3396996" y="32004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28" name="Image 6" descr="assets/icons/s2_evide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2272" y="3310128"/>
            <a:ext cx="475488" cy="4754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70148" y="3803904"/>
            <a:ext cx="24597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Source + Page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185916" y="32004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277356" y="32735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323076" y="3639312"/>
            <a:ext cx="734568" cy="502920"/>
          </a:xfrm>
          <a:prstGeom prst="roundRect">
            <a:avLst>
              <a:gd name="adj" fmla="val 16364"/>
            </a:avLst>
          </a:prstGeom>
          <a:solidFill>
            <a:srgbClr val="E7F6EC"/>
          </a:solidFill>
          <a:ln/>
        </p:spPr>
      </p:sp>
      <p:sp>
        <p:nvSpPr>
          <p:cNvPr id="33" name="Text 24"/>
          <p:cNvSpPr/>
          <p:nvPr/>
        </p:nvSpPr>
        <p:spPr>
          <a:xfrm>
            <a:off x="6295644" y="3639312"/>
            <a:ext cx="789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800" dirty="0"/>
          </a:p>
        </p:txBody>
      </p:sp>
      <p:sp>
        <p:nvSpPr>
          <p:cNvPr id="34" name="Shape 25"/>
          <p:cNvSpPr/>
          <p:nvPr/>
        </p:nvSpPr>
        <p:spPr>
          <a:xfrm>
            <a:off x="7121652" y="3639312"/>
            <a:ext cx="734568" cy="502920"/>
          </a:xfrm>
          <a:prstGeom prst="roundRect">
            <a:avLst>
              <a:gd name="adj" fmla="val 16364"/>
            </a:avLst>
          </a:prstGeom>
          <a:solidFill>
            <a:srgbClr val="FEF3E2"/>
          </a:solidFill>
          <a:ln/>
        </p:spPr>
      </p:sp>
      <p:sp>
        <p:nvSpPr>
          <p:cNvPr id="35" name="Text 26"/>
          <p:cNvSpPr/>
          <p:nvPr/>
        </p:nvSpPr>
        <p:spPr>
          <a:xfrm>
            <a:off x="7094220" y="3639312"/>
            <a:ext cx="789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800" dirty="0"/>
          </a:p>
        </p:txBody>
      </p:sp>
      <p:sp>
        <p:nvSpPr>
          <p:cNvPr id="36" name="Shape 27"/>
          <p:cNvSpPr/>
          <p:nvPr/>
        </p:nvSpPr>
        <p:spPr>
          <a:xfrm>
            <a:off x="7920228" y="3639312"/>
            <a:ext cx="734568" cy="502920"/>
          </a:xfrm>
          <a:prstGeom prst="roundRect">
            <a:avLst>
              <a:gd name="adj" fmla="val 16364"/>
            </a:avLst>
          </a:prstGeom>
          <a:solidFill>
            <a:srgbClr val="FDEAEA"/>
          </a:solidFill>
          <a:ln/>
        </p:spPr>
      </p:sp>
      <p:sp>
        <p:nvSpPr>
          <p:cNvPr id="37" name="Text 28"/>
          <p:cNvSpPr/>
          <p:nvPr/>
        </p:nvSpPr>
        <p:spPr>
          <a:xfrm>
            <a:off x="7892796" y="3639312"/>
            <a:ext cx="789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8974836" y="32004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39" name="Image 7" descr="assets/icons/s2_compa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0112" y="3310128"/>
            <a:ext cx="475488" cy="4754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047988" y="3803904"/>
            <a:ext cx="24597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+ Evidence Comparison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3214116" y="3726180"/>
            <a:ext cx="182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42" name="Shape 32"/>
          <p:cNvSpPr/>
          <p:nvPr/>
        </p:nvSpPr>
        <p:spPr>
          <a:xfrm>
            <a:off x="6003036" y="3726180"/>
            <a:ext cx="182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43" name="Shape 33"/>
          <p:cNvSpPr/>
          <p:nvPr/>
        </p:nvSpPr>
        <p:spPr>
          <a:xfrm>
            <a:off x="8791956" y="3726180"/>
            <a:ext cx="182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44" name="Text 34"/>
          <p:cNvSpPr/>
          <p:nvPr/>
        </p:nvSpPr>
        <p:spPr>
          <a:xfrm>
            <a:off x="502920" y="436168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traced back to evidence from official government documents.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5056632" y="4654296"/>
            <a:ext cx="2075688" cy="1502283"/>
          </a:xfrm>
          <a:prstGeom prst="roundRect">
            <a:avLst>
              <a:gd name="adj" fmla="val 48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25000"/>
              </a:srgbClr>
            </a:outerShdw>
          </a:effectLst>
        </p:spPr>
      </p:sp>
      <p:pic>
        <p:nvPicPr>
          <p:cNvPr id="46" name="Image 8" descr="assets/result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1496" y="4709160"/>
            <a:ext cx="1965960" cy="139255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4562856" y="6184011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Verification Interface</a:t>
            </a:r>
            <a:endParaRPr lang="en-US" sz="950" dirty="0"/>
          </a:p>
        </p:txBody>
      </p:sp>
      <p:sp>
        <p:nvSpPr>
          <p:cNvPr id="48" name="Text 3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GovVerify AI  |  GOV-16 · Unsupported Government Claim Detector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127455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C66F8D0-E704-4ABF-3557-60DF0B303C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47" y="109978"/>
            <a:ext cx="545432" cy="441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GovVerify AI Different?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55680" cy="2514600"/>
        </p:xfrm>
        <a:graphic>
          <a:graphicData uri="http://schemas.openxmlformats.org/drawingml/2006/table">
            <a:tbl>
              <a:tblPr/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Conventional AI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GovVerify AI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✗  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Answer generation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  </a:t>
                      </a:r>
                      <a:r>
                        <a:rPr lang="en-US" sz="1200" b="1" dirty="0">
                          <a:solidFill>
                            <a:srgbClr val="0F2A5C"/>
                          </a:solidFill>
                        </a:rPr>
                        <a:t>Answer + verification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✗  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Whole-response focus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  </a:t>
                      </a:r>
                      <a:r>
                        <a:rPr lang="en-US" sz="1200" b="1" dirty="0">
                          <a:solidFill>
                            <a:srgbClr val="0F2A5C"/>
                          </a:solidFill>
                        </a:rPr>
                        <a:t>Claim-by-claim analysis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✗  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May rely on model knowledge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  </a:t>
                      </a:r>
                      <a:r>
                        <a:rPr lang="en-US" sz="1200" b="1" dirty="0">
                          <a:solidFill>
                            <a:srgbClr val="0F2A5C"/>
                          </a:solidFill>
                        </a:rPr>
                        <a:t>Official government evidence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✗  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Limited source traceability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  </a:t>
                      </a:r>
                      <a:r>
                        <a:rPr lang="en-US" sz="1200" b="1" dirty="0">
                          <a:solidFill>
                            <a:srgbClr val="0F2A5C"/>
                          </a:solidFill>
                        </a:rPr>
                        <a:t>Source + page citation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✗  </a:t>
                      </a: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Difficult to identify unsupported claims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  </a:t>
                      </a:r>
                      <a:r>
                        <a:rPr lang="en-US" sz="1200" b="1" dirty="0">
                          <a:solidFill>
                            <a:srgbClr val="0F2A5C"/>
                          </a:solidFill>
                        </a:rPr>
                        <a:t>Supported / Uncertain / Unsupported classification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539496" y="38862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5" name="Image 0" descr="assets/icons/s3_claim_le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165092"/>
            <a:ext cx="585216" cy="585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08176" y="3886200"/>
            <a:ext cx="1600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Claim-Level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3374136" y="38862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8" name="Image 1" descr="assets/icons/s3_evidence_groun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4165092"/>
            <a:ext cx="585216" cy="5852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42816" y="3886200"/>
            <a:ext cx="1600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208776" y="38862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11" name="Image 2" descr="assets/icons/s3_page_tr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165092"/>
            <a:ext cx="585216" cy="5852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77456" y="3886200"/>
            <a:ext cx="1600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Source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9043416" y="38862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14" name="Image 3" descr="assets/icons/s3_explain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08" y="4165092"/>
            <a:ext cx="585216" cy="5852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912096" y="3886200"/>
            <a:ext cx="1600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Results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502920" y="53492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0F2A5C"/>
          </a:solidFill>
          <a:ln/>
        </p:spPr>
      </p:sp>
      <p:sp>
        <p:nvSpPr>
          <p:cNvPr id="17" name="Text 10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GovVerify AI shifts government AI from </a:t>
            </a:r>
            <a:r>
              <a:rPr lang="en-US" sz="1800" b="1" strike="sngStrike" dirty="0">
                <a:solidFill>
                  <a:srgbClr val="93A9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GENERATION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</a:t>
            </a: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EVIDENCE-BACKED VERIFICATION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GovVerify AI  |  GOV-16 · Unsupported Government Claim Detector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27455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A154C9-A79D-7DE7-F40B-9F070C039F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7" y="109978"/>
            <a:ext cx="545432" cy="4419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Built with Existing AI Technologies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7532" y="10515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4" name="Image 0" descr="assets/icons/s4_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52" y="1143000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" y="16002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PDFs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29484" y="15316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985516" y="10515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8" name="Image 1" descr="assets/icons/s4_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1143000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40380" y="16002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887468" y="15316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5143500" y="10515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12" name="Image 2" descr="assets/icons/s4_chu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1143000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98364" y="16002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Chunking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045452" y="15316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7301484" y="10515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16" name="Image 3" descr="assets/icons/s4_emb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004" y="1143000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56348" y="16002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Embeddings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9203436" y="15316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9459468" y="10515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20" name="Image 4" descr="assets/icons/s4_fai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988" y="1143000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14332" y="16002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Search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11343132" y="2011680"/>
            <a:ext cx="0" cy="41148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827532" y="24231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24" name="Image 5" descr="assets/icons/s4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9052" y="2514600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82396" y="29718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2985516" y="24231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27" name="Image 6" descr="assets/icons/s4_resu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7036" y="2514600"/>
            <a:ext cx="438912" cy="43891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040380" y="29718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Result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5143500" y="24231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30" name="Image 7" descr="assets/icons/s4_nl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5020" y="2514600"/>
            <a:ext cx="438912" cy="43891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98364" y="29718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 NLI Verification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7301484" y="24231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33" name="Image 8" descr="assets/icons/s4_ll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3004" y="2514600"/>
            <a:ext cx="438912" cy="43891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356348" y="29718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Claim Extraction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9459468" y="2423160"/>
            <a:ext cx="1901952" cy="960120"/>
          </a:xfrm>
          <a:prstGeom prst="roundRect">
            <a:avLst>
              <a:gd name="adj" fmla="val 9524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36" name="Image 9" descr="assets/icons/s4_evidenc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0988" y="2514600"/>
            <a:ext cx="438912" cy="43891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514332" y="29718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Evidence</a:t>
            </a:r>
            <a:endParaRPr 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2729484" y="29032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39" name="Shape 27"/>
          <p:cNvSpPr/>
          <p:nvPr/>
        </p:nvSpPr>
        <p:spPr>
          <a:xfrm>
            <a:off x="4887468" y="29032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40" name="Shape 28"/>
          <p:cNvSpPr/>
          <p:nvPr/>
        </p:nvSpPr>
        <p:spPr>
          <a:xfrm>
            <a:off x="7045452" y="29032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41" name="Shape 29"/>
          <p:cNvSpPr/>
          <p:nvPr/>
        </p:nvSpPr>
        <p:spPr>
          <a:xfrm>
            <a:off x="9203436" y="2903220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headEnd type="triangle"/>
          </a:ln>
        </p:spPr>
      </p:sp>
      <p:sp>
        <p:nvSpPr>
          <p:cNvPr id="42" name="Text 30"/>
          <p:cNvSpPr/>
          <p:nvPr/>
        </p:nvSpPr>
        <p:spPr>
          <a:xfrm>
            <a:off x="502920" y="3703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43" name="Shape 31"/>
          <p:cNvSpPr/>
          <p:nvPr/>
        </p:nvSpPr>
        <p:spPr>
          <a:xfrm>
            <a:off x="502920" y="4069080"/>
            <a:ext cx="1744980" cy="457200"/>
          </a:xfrm>
          <a:prstGeom prst="roundRect">
            <a:avLst>
              <a:gd name="adj" fmla="val 70000"/>
            </a:avLst>
          </a:prstGeom>
          <a:solidFill>
            <a:srgbClr val="F1F5F9"/>
          </a:solidFill>
          <a:ln/>
        </p:spPr>
      </p:sp>
      <p:pic>
        <p:nvPicPr>
          <p:cNvPr id="44" name="Image 10" descr="assets/icons/s4_stack_fronten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360" y="4160520"/>
            <a:ext cx="274320" cy="27432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86968" y="4069080"/>
            <a:ext cx="1306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850" dirty="0"/>
          </a:p>
        </p:txBody>
      </p:sp>
      <p:sp>
        <p:nvSpPr>
          <p:cNvPr id="46" name="Shape 33"/>
          <p:cNvSpPr/>
          <p:nvPr/>
        </p:nvSpPr>
        <p:spPr>
          <a:xfrm>
            <a:off x="2385060" y="4069080"/>
            <a:ext cx="1744980" cy="457200"/>
          </a:xfrm>
          <a:prstGeom prst="roundRect">
            <a:avLst>
              <a:gd name="adj" fmla="val 70000"/>
            </a:avLst>
          </a:prstGeom>
          <a:solidFill>
            <a:srgbClr val="F1F5F9"/>
          </a:solidFill>
          <a:ln/>
        </p:spPr>
      </p:sp>
      <p:pic>
        <p:nvPicPr>
          <p:cNvPr id="47" name="Image 11" descr="assets/icons/s4_stack_backen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0" y="4160520"/>
            <a:ext cx="274320" cy="27432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2769108" y="4069080"/>
            <a:ext cx="1306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endParaRPr lang="en-US" sz="850" dirty="0"/>
          </a:p>
        </p:txBody>
      </p:sp>
      <p:sp>
        <p:nvSpPr>
          <p:cNvPr id="49" name="Shape 35"/>
          <p:cNvSpPr/>
          <p:nvPr/>
        </p:nvSpPr>
        <p:spPr>
          <a:xfrm>
            <a:off x="4267200" y="4069080"/>
            <a:ext cx="1744980" cy="457200"/>
          </a:xfrm>
          <a:prstGeom prst="roundRect">
            <a:avLst>
              <a:gd name="adj" fmla="val 70000"/>
            </a:avLst>
          </a:prstGeom>
          <a:solidFill>
            <a:srgbClr val="F1F5F9"/>
          </a:solidFill>
          <a:ln/>
        </p:spPr>
      </p:sp>
      <p:pic>
        <p:nvPicPr>
          <p:cNvPr id="50" name="Image 12" descr="assets/icons/s4_stack_a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8640" y="4160520"/>
            <a:ext cx="274320" cy="27432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4651248" y="4069080"/>
            <a:ext cx="1306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BGE-M3 + DeBERTa</a:t>
            </a:r>
            <a:endParaRPr lang="en-US" sz="850" dirty="0"/>
          </a:p>
        </p:txBody>
      </p:sp>
      <p:sp>
        <p:nvSpPr>
          <p:cNvPr id="52" name="Shape 37"/>
          <p:cNvSpPr/>
          <p:nvPr/>
        </p:nvSpPr>
        <p:spPr>
          <a:xfrm>
            <a:off x="6149340" y="4069080"/>
            <a:ext cx="1744980" cy="457200"/>
          </a:xfrm>
          <a:prstGeom prst="roundRect">
            <a:avLst>
              <a:gd name="adj" fmla="val 70000"/>
            </a:avLst>
          </a:prstGeom>
          <a:solidFill>
            <a:srgbClr val="F1F5F9"/>
          </a:solidFill>
          <a:ln/>
        </p:spPr>
      </p:sp>
      <p:pic>
        <p:nvPicPr>
          <p:cNvPr id="53" name="Image 13" descr="assets/icons/s4_stack_search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0780" y="4160520"/>
            <a:ext cx="274320" cy="27432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6533388" y="4069080"/>
            <a:ext cx="1306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850" dirty="0"/>
          </a:p>
        </p:txBody>
      </p:sp>
      <p:sp>
        <p:nvSpPr>
          <p:cNvPr id="55" name="Shape 39"/>
          <p:cNvSpPr/>
          <p:nvPr/>
        </p:nvSpPr>
        <p:spPr>
          <a:xfrm>
            <a:off x="8031480" y="4069080"/>
            <a:ext cx="1744980" cy="457200"/>
          </a:xfrm>
          <a:prstGeom prst="roundRect">
            <a:avLst>
              <a:gd name="adj" fmla="val 70000"/>
            </a:avLst>
          </a:prstGeom>
          <a:solidFill>
            <a:srgbClr val="F1F5F9"/>
          </a:solidFill>
          <a:ln/>
        </p:spPr>
      </p:sp>
      <p:pic>
        <p:nvPicPr>
          <p:cNvPr id="56" name="Image 14" descr="assets/icons/s4_stack_do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2920" y="4160520"/>
            <a:ext cx="274320" cy="274320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8415528" y="4069080"/>
            <a:ext cx="1306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850" dirty="0"/>
          </a:p>
        </p:txBody>
      </p:sp>
      <p:sp>
        <p:nvSpPr>
          <p:cNvPr id="58" name="Shape 41"/>
          <p:cNvSpPr/>
          <p:nvPr/>
        </p:nvSpPr>
        <p:spPr>
          <a:xfrm>
            <a:off x="9913620" y="4069080"/>
            <a:ext cx="1744980" cy="457200"/>
          </a:xfrm>
          <a:prstGeom prst="roundRect">
            <a:avLst>
              <a:gd name="adj" fmla="val 70000"/>
            </a:avLst>
          </a:prstGeom>
          <a:solidFill>
            <a:srgbClr val="F1F5F9"/>
          </a:solidFill>
          <a:ln/>
        </p:spPr>
      </p:sp>
      <p:pic>
        <p:nvPicPr>
          <p:cNvPr id="59" name="Image 15" descr="assets/icons/s4_stack_db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05060" y="4160520"/>
            <a:ext cx="274320" cy="274320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10297668" y="4069080"/>
            <a:ext cx="1306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61" name="Shape 43"/>
          <p:cNvSpPr/>
          <p:nvPr/>
        </p:nvSpPr>
        <p:spPr>
          <a:xfrm>
            <a:off x="502920" y="5120640"/>
            <a:ext cx="350520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pic>
        <p:nvPicPr>
          <p:cNvPr id="62" name="Image 16" descr="assets/icons/s4_resu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321808"/>
            <a:ext cx="384048" cy="384048"/>
          </a:xfrm>
          <a:prstGeom prst="rect">
            <a:avLst/>
          </a:prstGeom>
        </p:spPr>
      </p:pic>
      <p:sp>
        <p:nvSpPr>
          <p:cNvPr id="63" name="Text 44"/>
          <p:cNvSpPr/>
          <p:nvPr/>
        </p:nvSpPr>
        <p:spPr>
          <a:xfrm>
            <a:off x="685800" y="576072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established and accessible open-source AI technologies.</a:t>
            </a:r>
            <a:endParaRPr lang="en-US" sz="1150" dirty="0"/>
          </a:p>
        </p:txBody>
      </p:sp>
      <p:sp>
        <p:nvSpPr>
          <p:cNvPr id="64" name="Shape 45"/>
          <p:cNvSpPr/>
          <p:nvPr/>
        </p:nvSpPr>
        <p:spPr>
          <a:xfrm>
            <a:off x="4328160" y="5120640"/>
            <a:ext cx="350520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pic>
        <p:nvPicPr>
          <p:cNvPr id="65" name="Image 17" descr="assets/icons/s4_resu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1040" y="5321808"/>
            <a:ext cx="384048" cy="384048"/>
          </a:xfrm>
          <a:prstGeom prst="rect">
            <a:avLst/>
          </a:prstGeom>
        </p:spPr>
      </p:pic>
      <p:sp>
        <p:nvSpPr>
          <p:cNvPr id="66" name="Text 46"/>
          <p:cNvSpPr/>
          <p:nvPr/>
        </p:nvSpPr>
        <p:spPr>
          <a:xfrm>
            <a:off x="4511040" y="576072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documents are available in digital formats.</a:t>
            </a:r>
            <a:endParaRPr lang="en-US" sz="1150" dirty="0"/>
          </a:p>
        </p:txBody>
      </p:sp>
      <p:sp>
        <p:nvSpPr>
          <p:cNvPr id="67" name="Shape 47"/>
          <p:cNvSpPr/>
          <p:nvPr/>
        </p:nvSpPr>
        <p:spPr>
          <a:xfrm>
            <a:off x="8153400" y="5120640"/>
            <a:ext cx="350520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pic>
        <p:nvPicPr>
          <p:cNvPr id="68" name="Image 18" descr="assets/icons/s4_resu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6280" y="5321808"/>
            <a:ext cx="384048" cy="384048"/>
          </a:xfrm>
          <a:prstGeom prst="rect">
            <a:avLst/>
          </a:prstGeom>
        </p:spPr>
      </p:pic>
      <p:sp>
        <p:nvSpPr>
          <p:cNvPr id="69" name="Text 48"/>
          <p:cNvSpPr/>
          <p:nvPr/>
        </p:nvSpPr>
        <p:spPr>
          <a:xfrm>
            <a:off x="8336280" y="576072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 start with a limited document collection and scale later.</a:t>
            </a:r>
            <a:endParaRPr lang="en-US" sz="1150" dirty="0"/>
          </a:p>
        </p:txBody>
      </p:sp>
      <p:sp>
        <p:nvSpPr>
          <p:cNvPr id="70" name="Text 49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GovVerify AI  |  GOV-16 · Unsupported Government Claim Detector</a:t>
            </a:r>
            <a:endParaRPr lang="en-US" sz="900" dirty="0"/>
          </a:p>
        </p:txBody>
      </p:sp>
      <p:sp>
        <p:nvSpPr>
          <p:cNvPr id="71" name="Text 50"/>
          <p:cNvSpPr/>
          <p:nvPr/>
        </p:nvSpPr>
        <p:spPr>
          <a:xfrm>
            <a:off x="1127455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F14FC85-4D4B-F3B6-1345-780B0FFF2F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47" y="109978"/>
            <a:ext cx="545432" cy="4419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— Building Trust in Government 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535680" cy="2148840"/>
          </a:xfrm>
          <a:prstGeom prst="roundRect">
            <a:avLst>
              <a:gd name="adj" fmla="val 510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4" name="Image 0" descr="assets/icons/s5_citiz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252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52728"/>
            <a:ext cx="252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98424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83664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trustworthy government information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39572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95144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verification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80720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706624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original sources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2920" y="1051560"/>
            <a:ext cx="3535680" cy="2148840"/>
          </a:xfrm>
          <a:prstGeom prst="roundRect">
            <a:avLst>
              <a:gd name="adj" fmla="val 510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13" name="Image 1" descr="assets/icons/s5_go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088" y="125272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5880" y="1252728"/>
            <a:ext cx="252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41520" y="1984248"/>
            <a:ext cx="82296" cy="82296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16" name="Text 12"/>
          <p:cNvSpPr/>
          <p:nvPr/>
        </p:nvSpPr>
        <p:spPr>
          <a:xfrm>
            <a:off x="4724400" y="1883664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AI-powered public services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41520" y="2395728"/>
            <a:ext cx="82296" cy="82296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18" name="Text 14"/>
          <p:cNvSpPr/>
          <p:nvPr/>
        </p:nvSpPr>
        <p:spPr>
          <a:xfrm>
            <a:off x="4724400" y="2295144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 of misinformation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41520" y="2807208"/>
            <a:ext cx="82296" cy="82296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0" name="Text 16"/>
          <p:cNvSpPr/>
          <p:nvPr/>
        </p:nvSpPr>
        <p:spPr>
          <a:xfrm>
            <a:off x="4724400" y="2706624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transparency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22920" y="1051560"/>
            <a:ext cx="3535680" cy="2148840"/>
          </a:xfrm>
          <a:prstGeom prst="roundRect">
            <a:avLst>
              <a:gd name="adj" fmla="val 5106"/>
            </a:avLst>
          </a:prstGeom>
          <a:solidFill>
            <a:srgbClr val="F5F9FF"/>
          </a:solidFill>
          <a:ln w="12700">
            <a:solidFill>
              <a:srgbClr val="D7E6FA"/>
            </a:solidFill>
            <a:prstDash val="solid"/>
          </a:ln>
        </p:spPr>
      </p:sp>
      <p:pic>
        <p:nvPicPr>
          <p:cNvPr id="22" name="Image 2" descr="assets/icons/s5_ecosyst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088" y="1252728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45880" y="1252728"/>
            <a:ext cx="252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Ecosystem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351520" y="198424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0"/>
          <p:cNvSpPr/>
          <p:nvPr/>
        </p:nvSpPr>
        <p:spPr>
          <a:xfrm>
            <a:off x="8534400" y="1883664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351520" y="239572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2"/>
          <p:cNvSpPr/>
          <p:nvPr/>
        </p:nvSpPr>
        <p:spPr>
          <a:xfrm>
            <a:off x="8534400" y="2295144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351520" y="280720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4"/>
          <p:cNvSpPr/>
          <p:nvPr/>
        </p:nvSpPr>
        <p:spPr>
          <a:xfrm>
            <a:off x="8534400" y="2706624"/>
            <a:ext cx="289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verification framework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997196" y="3355848"/>
            <a:ext cx="2194560" cy="1581150"/>
          </a:xfrm>
          <a:prstGeom prst="roundRect">
            <a:avLst>
              <a:gd name="adj" fmla="val 4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4155">
                <a:alpha val="22000"/>
              </a:srgbClr>
            </a:outerShdw>
          </a:effectLst>
        </p:spPr>
      </p:sp>
      <p:pic>
        <p:nvPicPr>
          <p:cNvPr id="31" name="Image 3" descr="assets/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916" y="3401568"/>
            <a:ext cx="2103120" cy="148971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02920" y="5147310"/>
            <a:ext cx="2617470" cy="502920"/>
          </a:xfrm>
          <a:prstGeom prst="roundRect">
            <a:avLst>
              <a:gd name="adj" fmla="val 54545"/>
            </a:avLst>
          </a:prstGeom>
          <a:solidFill>
            <a:srgbClr val="F1F5F9"/>
          </a:solidFill>
          <a:ln/>
        </p:spPr>
      </p:sp>
      <p:pic>
        <p:nvPicPr>
          <p:cNvPr id="33" name="Image 4" descr="assets/icons/s5_tru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5243322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8408" y="514731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3348990" y="5147310"/>
            <a:ext cx="2617470" cy="502920"/>
          </a:xfrm>
          <a:prstGeom prst="roundRect">
            <a:avLst>
              <a:gd name="adj" fmla="val 54545"/>
            </a:avLst>
          </a:prstGeom>
          <a:solidFill>
            <a:srgbClr val="F1F5F9"/>
          </a:solidFill>
          <a:ln/>
        </p:spPr>
      </p:sp>
      <p:pic>
        <p:nvPicPr>
          <p:cNvPr id="36" name="Image 5" descr="assets/icons/s5_transparenc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8718" y="5243322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824478" y="514731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6195060" y="5147310"/>
            <a:ext cx="2617470" cy="502920"/>
          </a:xfrm>
          <a:prstGeom prst="roundRect">
            <a:avLst>
              <a:gd name="adj" fmla="val 54545"/>
            </a:avLst>
          </a:prstGeom>
          <a:solidFill>
            <a:srgbClr val="F1F5F9"/>
          </a:solidFill>
          <a:ln/>
        </p:spPr>
      </p:sp>
      <p:pic>
        <p:nvPicPr>
          <p:cNvPr id="39" name="Image 6" descr="assets/icons/s5_efficienc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4788" y="5243322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670548" y="514731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9041130" y="5147310"/>
            <a:ext cx="2617470" cy="502920"/>
          </a:xfrm>
          <a:prstGeom prst="roundRect">
            <a:avLst>
              <a:gd name="adj" fmla="val 54545"/>
            </a:avLst>
          </a:prstGeom>
          <a:solidFill>
            <a:srgbClr val="F1F5F9"/>
          </a:solidFill>
          <a:ln/>
        </p:spPr>
      </p:sp>
      <p:pic>
        <p:nvPicPr>
          <p:cNvPr id="42" name="Image 7" descr="assets/icons/s5_accountabil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0858" y="5243322"/>
            <a:ext cx="310896" cy="31089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516618" y="514731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502920" y="5851398"/>
            <a:ext cx="11155680" cy="685800"/>
          </a:xfrm>
          <a:prstGeom prst="roundRect">
            <a:avLst>
              <a:gd name="adj" fmla="val 13333"/>
            </a:avLst>
          </a:prstGeom>
          <a:solidFill>
            <a:srgbClr val="0F2A5C"/>
          </a:solidFill>
          <a:ln/>
        </p:spPr>
      </p:sp>
      <p:sp>
        <p:nvSpPr>
          <p:cNvPr id="45" name="Text 35"/>
          <p:cNvSpPr/>
          <p:nvPr/>
        </p:nvSpPr>
        <p:spPr>
          <a:xfrm>
            <a:off x="777240" y="585139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GovVerify AI can act as a verification layer between generative AI and citizens.</a:t>
            </a:r>
            <a:endParaRPr lang="en-US" sz="1550" dirty="0"/>
          </a:p>
        </p:txBody>
      </p:sp>
      <p:sp>
        <p:nvSpPr>
          <p:cNvPr id="46" name="Text 36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GovVerify AI  |  GOV-16 · Unsupported Government Claim Detector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7455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787554E-06AD-987B-71CB-8A1F67E406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47" y="109978"/>
            <a:ext cx="545432" cy="441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 &amp; Future 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3796" y="11430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6305E"/>
          </a:solidFill>
          <a:ln w="12700">
            <a:solidFill>
              <a:srgbClr val="2D4B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3796" y="12527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pic>
        <p:nvPicPr>
          <p:cNvPr id="5" name="Image 0" descr="assets/icons/s6_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52704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9516" y="2039112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45436" y="1828800"/>
            <a:ext cx="146304" cy="0"/>
          </a:xfrm>
          <a:prstGeom prst="line">
            <a:avLst/>
          </a:prstGeom>
          <a:noFill/>
          <a:ln w="22225">
            <a:solidFill>
              <a:srgbClr val="5F84C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491740" y="11430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6305E"/>
          </a:solidFill>
          <a:ln w="12700">
            <a:solidFill>
              <a:srgbClr val="2D4B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91740" y="12527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pic>
        <p:nvPicPr>
          <p:cNvPr id="10" name="Image 1" descr="assets/icons/s6_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104" y="1527048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37460" y="2039112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Indexing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183380" y="1828800"/>
            <a:ext cx="146304" cy="0"/>
          </a:xfrm>
          <a:prstGeom prst="line">
            <a:avLst/>
          </a:prstGeom>
          <a:noFill/>
          <a:ln w="22225">
            <a:solidFill>
              <a:srgbClr val="5F84C4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329684" y="11430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6305E"/>
          </a:solidFill>
          <a:ln w="12700">
            <a:solidFill>
              <a:srgbClr val="2D4B8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29684" y="12527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pic>
        <p:nvPicPr>
          <p:cNvPr id="15" name="Image 2" descr="assets/icons/s6_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1527048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75404" y="2039112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21324" y="1828800"/>
            <a:ext cx="146304" cy="0"/>
          </a:xfrm>
          <a:prstGeom prst="line">
            <a:avLst/>
          </a:prstGeom>
          <a:noFill/>
          <a:ln w="22225">
            <a:solidFill>
              <a:srgbClr val="5F84C4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167628" y="11430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6305E"/>
          </a:solidFill>
          <a:ln w="12700">
            <a:solidFill>
              <a:srgbClr val="2D4B8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67628" y="12527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pic>
        <p:nvPicPr>
          <p:cNvPr id="20" name="Image 3" descr="assets/icons/s6_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1527048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3348" y="2039112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Verification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7859268" y="1828800"/>
            <a:ext cx="146304" cy="0"/>
          </a:xfrm>
          <a:prstGeom prst="line">
            <a:avLst/>
          </a:prstGeom>
          <a:noFill/>
          <a:ln w="22225">
            <a:solidFill>
              <a:srgbClr val="5F84C4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8005572" y="11430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6305E"/>
          </a:solidFill>
          <a:ln w="12700">
            <a:solidFill>
              <a:srgbClr val="2D4B8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005572" y="12527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50" dirty="0"/>
          </a:p>
        </p:txBody>
      </p:sp>
      <p:pic>
        <p:nvPicPr>
          <p:cNvPr id="25" name="Image 4" descr="assets/icons/s6_p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1936" y="1527048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51292" y="2039112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9697212" y="1828800"/>
            <a:ext cx="146304" cy="0"/>
          </a:xfrm>
          <a:prstGeom prst="line">
            <a:avLst/>
          </a:prstGeom>
          <a:noFill/>
          <a:ln w="22225">
            <a:solidFill>
              <a:srgbClr val="5F84C4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9843516" y="114300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6305E"/>
          </a:solidFill>
          <a:ln w="12700">
            <a:solidFill>
              <a:srgbClr val="2D4B8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843516" y="12527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850" dirty="0"/>
          </a:p>
        </p:txBody>
      </p:sp>
      <p:pic>
        <p:nvPicPr>
          <p:cNvPr id="30" name="Image 5" descr="assets/icons/s6_p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9880" y="1527048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89236" y="2039112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Scaling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5029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502920" y="3200400"/>
            <a:ext cx="2665476" cy="438912"/>
          </a:xfrm>
          <a:prstGeom prst="roundRect">
            <a:avLst>
              <a:gd name="adj" fmla="val 58333"/>
            </a:avLst>
          </a:prstGeom>
          <a:solidFill>
            <a:srgbClr val="16305E"/>
          </a:solidFill>
          <a:ln w="9525">
            <a:solidFill>
              <a:srgbClr val="2D4B8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40080" y="3200400"/>
            <a:ext cx="2391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government website integration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332988" y="3200400"/>
            <a:ext cx="2665476" cy="438912"/>
          </a:xfrm>
          <a:prstGeom prst="roundRect">
            <a:avLst>
              <a:gd name="adj" fmla="val 58333"/>
            </a:avLst>
          </a:prstGeom>
          <a:solidFill>
            <a:srgbClr val="16305E"/>
          </a:solidFill>
          <a:ln w="9525">
            <a:solidFill>
              <a:srgbClr val="2D4B85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3470148" y="3200400"/>
            <a:ext cx="2391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and multilingual verification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6163056" y="3200400"/>
            <a:ext cx="2665476" cy="438912"/>
          </a:xfrm>
          <a:prstGeom prst="roundRect">
            <a:avLst>
              <a:gd name="adj" fmla="val 58333"/>
            </a:avLst>
          </a:prstGeom>
          <a:solidFill>
            <a:srgbClr val="16305E"/>
          </a:solidFill>
          <a:ln w="9525">
            <a:solidFill>
              <a:srgbClr val="2D4B85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300216" y="3200400"/>
            <a:ext cx="2391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queries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8993124" y="3200400"/>
            <a:ext cx="2665476" cy="438912"/>
          </a:xfrm>
          <a:prstGeom prst="roundRect">
            <a:avLst>
              <a:gd name="adj" fmla="val 58333"/>
            </a:avLst>
          </a:prstGeom>
          <a:solidFill>
            <a:srgbClr val="16305E"/>
          </a:solidFill>
          <a:ln w="9525">
            <a:solidFill>
              <a:srgbClr val="2D4B85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9130284" y="3200400"/>
            <a:ext cx="2391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document updates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502920" y="3776472"/>
            <a:ext cx="2665476" cy="438912"/>
          </a:xfrm>
          <a:prstGeom prst="roundRect">
            <a:avLst>
              <a:gd name="adj" fmla="val 58333"/>
            </a:avLst>
          </a:prstGeom>
          <a:solidFill>
            <a:srgbClr val="16305E"/>
          </a:solidFill>
          <a:ln w="9525">
            <a:solidFill>
              <a:srgbClr val="2D4B85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40080" y="3776472"/>
            <a:ext cx="2391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contradiction detection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3332988" y="3776472"/>
            <a:ext cx="2665476" cy="438912"/>
          </a:xfrm>
          <a:prstGeom prst="roundRect">
            <a:avLst>
              <a:gd name="adj" fmla="val 58333"/>
            </a:avLst>
          </a:prstGeom>
          <a:solidFill>
            <a:srgbClr val="16305E"/>
          </a:solidFill>
          <a:ln w="9525">
            <a:solidFill>
              <a:srgbClr val="2D4B85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3470148" y="3776472"/>
            <a:ext cx="2391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chatbot integration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163056" y="3776472"/>
            <a:ext cx="2665476" cy="438912"/>
          </a:xfrm>
          <a:prstGeom prst="roundRect">
            <a:avLst>
              <a:gd name="adj" fmla="val 58333"/>
            </a:avLst>
          </a:prstGeom>
          <a:solidFill>
            <a:srgbClr val="16305E"/>
          </a:solidFill>
          <a:ln w="9525">
            <a:solidFill>
              <a:srgbClr val="2D4B85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6300216" y="3776472"/>
            <a:ext cx="23911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explainable AI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822960" y="458114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government AI information more </a:t>
            </a:r>
            <a:r>
              <a:rPr lang="en-US" sz="1900" b="1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trustworthy, transparent and verifiable.</a:t>
            </a:r>
            <a:endParaRPr lang="en-US" sz="1900" dirty="0"/>
          </a:p>
        </p:txBody>
      </p:sp>
      <p:sp>
        <p:nvSpPr>
          <p:cNvPr id="48" name="Shape 40"/>
          <p:cNvSpPr/>
          <p:nvPr/>
        </p:nvSpPr>
        <p:spPr>
          <a:xfrm>
            <a:off x="4905756" y="5312664"/>
            <a:ext cx="2377440" cy="1066619"/>
          </a:xfrm>
          <a:prstGeom prst="roundRect">
            <a:avLst>
              <a:gd name="adj" fmla="val 5144"/>
            </a:avLst>
          </a:prstGeom>
          <a:solidFill>
            <a:srgbClr val="0B2450"/>
          </a:solidFill>
          <a:ln w="12700">
            <a:solidFill>
              <a:srgbClr val="2D4B85"/>
            </a:solidFill>
            <a:prstDash val="solid"/>
          </a:ln>
        </p:spPr>
      </p:sp>
      <p:pic>
        <p:nvPicPr>
          <p:cNvPr id="49" name="Image 6" descr="assets/settin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1476" y="5358384"/>
            <a:ext cx="2286000" cy="975179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402836" y="6388427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Status — All Systems Operational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GovVerify AI  |  GOV-16 · Unsupported Government Claim Detector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127455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577</Words>
  <Application>Microsoft Office PowerPoint</Application>
  <PresentationFormat>Widescreen</PresentationFormat>
  <Paragraphs>143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 Ranjith</cp:lastModifiedBy>
  <cp:revision>3</cp:revision>
  <dcterms:created xsi:type="dcterms:W3CDTF">2026-09-15T06:23:18Z</dcterms:created>
  <dcterms:modified xsi:type="dcterms:W3CDTF">2026-09-15T06:50:32Z</dcterms:modified>
</cp:coreProperties>
</file>